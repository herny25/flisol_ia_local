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0" autoAdjust="0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4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0F6FF"/>
                    </a:solidFill>
                    <a:latin typeface="Arial"/>
                  </a:defRPr>
                </a:pPr>
                <a:endParaRPr lang="es-419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Phi-3 Mini</c:v>
                </c:pt>
                <c:pt idx="1">
                  <c:v>Gemma 2 2B</c:v>
                </c:pt>
                <c:pt idx="2">
                  <c:v>Mistral 7B</c:v>
                </c:pt>
                <c:pt idx="3">
                  <c:v>Llama 3.1 8B</c:v>
                </c:pt>
                <c:pt idx="4">
                  <c:v>Qwen 2.5 7B</c:v>
                </c:pt>
                <c:pt idx="5">
                  <c:v>GPT-3.5 Turbo</c:v>
                </c:pt>
                <c:pt idx="6">
                  <c:v>Claude Sonnet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35</c:v>
                </c:pt>
                <c:pt idx="1">
                  <c:v>30</c:v>
                </c:pt>
                <c:pt idx="2">
                  <c:v>65</c:v>
                </c:pt>
                <c:pt idx="3">
                  <c:v>72</c:v>
                </c:pt>
                <c:pt idx="4">
                  <c:v>75</c:v>
                </c:pt>
                <c:pt idx="5">
                  <c:v>78</c:v>
                </c:pt>
                <c:pt idx="6">
                  <c:v>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0F-42C2-AE78-DE6A6B56A7B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0F6FF"/>
                </a:solidFill>
                <a:latin typeface="Arial"/>
              </a:defRPr>
            </a:pPr>
            <a:endParaRPr lang="es-419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1F35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BA3C1"/>
                </a:solidFill>
                <a:latin typeface="Arial"/>
              </a:defRPr>
            </a:pPr>
            <a:endParaRPr lang="es-419"/>
          </a:p>
        </c:txPr>
        <c:crossAx val="2094734554"/>
        <c:crosses val="autoZero"/>
        <c:crossBetween val="between"/>
      </c:valAx>
      <c:spPr>
        <a:solidFill>
          <a:srgbClr val="0D1B2E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D1B2E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tok/s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0F6FF"/>
                    </a:solidFill>
                    <a:latin typeface="Arial"/>
                  </a:defRPr>
                </a:pPr>
                <a:endParaRPr lang="es-419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CPU 4 núcleos</c:v>
                </c:pt>
                <c:pt idx="1">
                  <c:v>CPU 8 núcleos (HOY)</c:v>
                </c:pt>
                <c:pt idx="2">
                  <c:v>GTX 1650 / GTX 1660</c:v>
                </c:pt>
                <c:pt idx="3">
                  <c:v>RTX 2060</c:v>
                </c:pt>
                <c:pt idx="4">
                  <c:v>RTX 3060</c:v>
                </c:pt>
                <c:pt idx="5">
                  <c:v>ChatGPT nube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</c:v>
                </c:pt>
                <c:pt idx="1">
                  <c:v>22</c:v>
                </c:pt>
                <c:pt idx="2">
                  <c:v>40</c:v>
                </c:pt>
                <c:pt idx="3">
                  <c:v>60</c:v>
                </c:pt>
                <c:pt idx="4">
                  <c:v>90</c:v>
                </c:pt>
                <c:pt idx="5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50-49E6-A778-34107A9C649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0F6FF"/>
                </a:solidFill>
                <a:latin typeface="Arial"/>
              </a:defRPr>
            </a:pPr>
            <a:endParaRPr lang="es-419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30"/>
          <c:min val="0"/>
        </c:scaling>
        <c:delete val="0"/>
        <c:axPos val="b"/>
        <c:majorGridlines>
          <c:spPr>
            <a:ln w="6350" cap="flat">
              <a:solidFill>
                <a:srgbClr val="1F35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BA3C1"/>
                </a:solidFill>
                <a:latin typeface="Arial"/>
              </a:defRPr>
            </a:pPr>
            <a:endParaRPr lang="es-419"/>
          </a:p>
        </c:txPr>
        <c:crossAx val="2094734554"/>
        <c:crosses val="autoZero"/>
        <c:crossBetween val="between"/>
      </c:valAx>
      <c:spPr>
        <a:solidFill>
          <a:srgbClr val="0D1B2E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D1B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8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fondo_portada">
            <a:hlinkClick r:id="" action="ppaction://media"/>
            <a:extLst>
              <a:ext uri="{FF2B5EF4-FFF2-40B4-BE49-F238E27FC236}">
                <a16:creationId xmlns:a16="http://schemas.microsoft.com/office/drawing/2014/main" id="{7FDFC574-6654-4C2C-A3FF-336EDA282B6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228600" y="0"/>
            <a:ext cx="8686800" cy="5143500"/>
          </a:xfrm>
          <a:prstGeom prst="line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28600" y="0"/>
            <a:ext cx="0" cy="5143500"/>
          </a:xfrm>
          <a:prstGeom prst="lin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s-419" dirty="0"/>
          </a:p>
        </p:txBody>
      </p:sp>
      <p:sp>
        <p:nvSpPr>
          <p:cNvPr id="5" name="Shape 2"/>
          <p:cNvSpPr/>
          <p:nvPr/>
        </p:nvSpPr>
        <p:spPr>
          <a:xfrm>
            <a:off x="8915400" y="0"/>
            <a:ext cx="0" cy="5106924"/>
          </a:xfrm>
          <a:prstGeom prst="lin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PRÁCTICO · LINUX · IA LOCAL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13258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propio ChatGPT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548640" y="21031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Linux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3200399" y="2926080"/>
            <a:ext cx="2747905" cy="0"/>
          </a:xfrm>
          <a:prstGeom prst="line">
            <a:avLst/>
          </a:prstGeom>
          <a:solidFill>
            <a:srgbClr val="8BA3C1"/>
          </a:solidFill>
          <a:ln w="12700">
            <a:solidFill>
              <a:srgbClr val="8BA3C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3063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asistente de IA potente · Offline · Gratis · Con skills de programador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36118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 +  Llama 3.1 8B  +  VS Code  +  Agentes  +  Skills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Hernán López  |  Desarrollador Fullstack</a:t>
            </a:r>
            <a:endParaRPr lang="en-US" sz="11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00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76072"/>
            <a:ext cx="1737360" cy="0"/>
          </a:xfrm>
          <a:prstGeom prst="lin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chemeClr val="bg1"/>
                </a:solidFill>
              </a:rPr>
              <a:t>AGENDA · 45 MIN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</a:t>
            </a:r>
            <a:r>
              <a:rPr lang="en-US" sz="2800" b="1" dirty="0" err="1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haremos</a:t>
            </a:r>
            <a:r>
              <a:rPr lang="en-US" sz="2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42400"/>
            <a:ext cx="4030242" cy="14494"/>
          </a:xfrm>
          <a:prstGeom prst="line">
            <a:avLst/>
          </a:prstGeom>
          <a:solidFill>
            <a:srgbClr val="0D1B2E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 flipH="1">
            <a:off x="457200" y="1325880"/>
            <a:ext cx="0" cy="777240"/>
          </a:xfrm>
          <a:prstGeom prst="lin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716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3898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+ casos reales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7099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Costos, usos reales, noticias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703320" y="138988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4023360" cy="18288"/>
          </a:xfrm>
          <a:prstGeom prst="line">
            <a:avLst/>
          </a:prstGeom>
          <a:solidFill>
            <a:srgbClr val="0D1B2E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423160"/>
            <a:ext cx="0" cy="914400"/>
          </a:xfrm>
          <a:prstGeom prst="lin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4688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51560" y="24871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conversación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8072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directa con Ollama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03320" y="248716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 flipV="1">
            <a:off x="457200" y="3507714"/>
            <a:ext cx="4005071" cy="12726"/>
          </a:xfrm>
          <a:prstGeom prst="line">
            <a:avLst/>
          </a:prstGeom>
          <a:solidFill>
            <a:srgbClr val="0D1B2E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 flipH="1">
            <a:off x="457200" y="3520441"/>
            <a:ext cx="0" cy="850390"/>
          </a:xfrm>
          <a:prstGeom prst="lin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5661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51560" y="35844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con skills dev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39044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herramientas de programador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03320" y="358444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00600" y="1325880"/>
            <a:ext cx="4014216" cy="0"/>
          </a:xfrm>
          <a:prstGeom prst="line">
            <a:avLst/>
          </a:prstGeom>
          <a:solidFill>
            <a:srgbClr val="0D1B2E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1325880"/>
            <a:ext cx="0" cy="960118"/>
          </a:xfrm>
          <a:prstGeom prst="lin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13716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394960" y="13898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+ Continue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94960" y="17099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/revisar /tests /explicar en vivo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46720" y="138988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00600" y="2423160"/>
            <a:ext cx="4023360" cy="0"/>
          </a:xfrm>
          <a:prstGeom prst="line">
            <a:avLst/>
          </a:prstGeom>
          <a:solidFill>
            <a:srgbClr val="0D1B2E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2423161"/>
            <a:ext cx="0" cy="839072"/>
          </a:xfrm>
          <a:prstGeom prst="lin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24688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94960" y="24871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Límites + demos brutales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94960" y="28072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falla y por qué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046720" y="248716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 flipV="1">
            <a:off x="4800600" y="3520439"/>
            <a:ext cx="4005072" cy="1"/>
          </a:xfrm>
          <a:prstGeom prst="line">
            <a:avLst/>
          </a:prstGeom>
          <a:solidFill>
            <a:srgbClr val="0D1B2E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00600" y="3520440"/>
            <a:ext cx="0" cy="850391"/>
          </a:xfrm>
          <a:prstGeom prst="lin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35661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394960" y="35844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Kahoot + Cierre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94960" y="39044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Quiz, preguntas, próximos pasos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046720" y="358444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</a:t>
            </a:r>
            <a:endParaRPr lang="en-US" sz="9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76072"/>
            <a:ext cx="1737360" cy="0"/>
          </a:xfrm>
          <a:prstGeom prst="lin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chemeClr val="bg1"/>
                </a:solidFill>
              </a:rPr>
              <a:t>MOTIVACIÓN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correr la IA en tu propia máquina?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0" cy="3017520"/>
          </a:xfrm>
          <a:prstGeom prst="line">
            <a:avLst/>
          </a:prstGeom>
          <a:solidFill>
            <a:srgbClr val="0D1B2E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1920240" cy="0"/>
          </a:xfrm>
          <a:prstGeom prst="lin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🔒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 total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datos nunca salen de tu PC. Nadie lee tus conversaciones.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42032" y="1417320"/>
            <a:ext cx="0" cy="3017520"/>
          </a:xfrm>
          <a:prstGeom prst="line">
            <a:avLst/>
          </a:prstGeom>
          <a:solidFill>
            <a:srgbClr val="0D1B2E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42032" y="1417320"/>
            <a:ext cx="1920240" cy="0"/>
          </a:xfrm>
          <a:prstGeom prst="lin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42032" y="16916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💰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633472" y="24231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cero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33472" y="288036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suscripciones, sin límites, sin tarjeta de crédito.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26864" y="1417320"/>
            <a:ext cx="0" cy="3017520"/>
          </a:xfrm>
          <a:prstGeom prst="line">
            <a:avLst/>
          </a:prstGeom>
          <a:solidFill>
            <a:srgbClr val="0D1B2E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417320"/>
            <a:ext cx="1920238" cy="0"/>
          </a:xfrm>
          <a:prstGeom prst="lin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6916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📡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718304" y="24231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sin internet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18304" y="288036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zonas sin conectividad o trabajo desconectado.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711696" y="1417320"/>
            <a:ext cx="0" cy="3017520"/>
          </a:xfrm>
          <a:prstGeom prst="line">
            <a:avLst/>
          </a:prstGeom>
          <a:solidFill>
            <a:srgbClr val="0D1B2E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11696" y="1417320"/>
            <a:ext cx="1920240" cy="0"/>
          </a:xfrm>
          <a:prstGeom prst="lin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11696" y="16916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🔧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803136" y="24231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Integrable + Skills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03136" y="288036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con VS Code, </a:t>
            </a:r>
            <a:r>
              <a:rPr lang="en-US" sz="1050" dirty="0" err="1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</a:t>
            </a:r>
            <a:r>
              <a:rPr lang="en-US" sz="105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API OpenAI-compatible.</a:t>
            </a:r>
            <a:endParaRPr lang="en-US" sz="105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1737360" cy="0"/>
          </a:xfrm>
          <a:prstGeom prst="lin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chemeClr val="bg1"/>
                </a:solidFill>
              </a:rPr>
              <a:t>PREGUNTA RÁPIDA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 la mano si...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 flipV="1">
            <a:off x="457200" y="1362456"/>
            <a:ext cx="8229598" cy="9144"/>
          </a:xfrm>
          <a:prstGeom prst="line">
            <a:avLst/>
          </a:prstGeom>
          <a:solidFill>
            <a:srgbClr val="0D1B2E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0" cy="731520"/>
          </a:xfrm>
          <a:prstGeom prst="lin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79" y="1920240"/>
            <a:ext cx="384049" cy="0"/>
          </a:xfrm>
          <a:prstGeom prst="lin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143000" y="1481328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¿Usas ChatGPT o alguna IA en tu trabajo diario?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 flipV="1">
            <a:off x="457200" y="2240279"/>
            <a:ext cx="8229582" cy="1"/>
          </a:xfrm>
          <a:prstGeom prst="line">
            <a:avLst/>
          </a:prstGeom>
          <a:solidFill>
            <a:srgbClr val="0D1B2E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240280"/>
            <a:ext cx="0" cy="731520"/>
          </a:xfrm>
          <a:prstGeom prst="lin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788920"/>
            <a:ext cx="384048" cy="0"/>
          </a:xfrm>
          <a:prstGeom prst="lin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419" dirty="0"/>
          </a:p>
        </p:txBody>
      </p:sp>
      <p:sp>
        <p:nvSpPr>
          <p:cNvPr id="13" name="Text 11"/>
          <p:cNvSpPr/>
          <p:nvPr/>
        </p:nvSpPr>
        <p:spPr>
          <a:xfrm>
            <a:off x="640080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43000" y="2350008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¿Alguna vez te preocupó enviar datos privados a la nube?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 flipV="1">
            <a:off x="457200" y="3108959"/>
            <a:ext cx="8229575" cy="1"/>
          </a:xfrm>
          <a:prstGeom prst="line">
            <a:avLst/>
          </a:prstGeom>
          <a:solidFill>
            <a:srgbClr val="0D1B2E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108960"/>
            <a:ext cx="0" cy="731520"/>
          </a:xfrm>
          <a:prstGeom prst="lin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657600"/>
            <a:ext cx="429768" cy="0"/>
          </a:xfrm>
          <a:prstGeom prst="lin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273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43000" y="3218688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¿Has escuchado hablar de modelos de IA locales antes de hoy?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3977640"/>
            <a:ext cx="8229600" cy="9144"/>
          </a:xfrm>
          <a:prstGeom prst="line">
            <a:avLst/>
          </a:prstGeom>
          <a:solidFill>
            <a:srgbClr val="0D1B2E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977640"/>
            <a:ext cx="0" cy="731520"/>
          </a:xfrm>
          <a:prstGeom prst="lin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526280"/>
            <a:ext cx="384048" cy="0"/>
          </a:xfrm>
          <a:prstGeom prst="lin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43000" y="4087368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¿Pagas alguna suscripción de IA (ChatGPT Plus, Claude Pro...)?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1737360" cy="0"/>
          </a:xfrm>
          <a:prstGeom prst="lin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chemeClr val="bg1"/>
                </a:solidFill>
              </a:rPr>
              <a:t>CASOS REALES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</a:t>
            </a:r>
            <a:r>
              <a:rPr lang="en-US" sz="2800" b="1" dirty="0" err="1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r>
              <a:rPr lang="en-US" sz="2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IA y para qué?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0" cy="1463040"/>
          </a:xfrm>
          <a:prstGeom prst="line">
            <a:avLst/>
          </a:prstGeom>
          <a:solidFill>
            <a:srgbClr val="0D1B2E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 flipV="1">
            <a:off x="365760" y="1371599"/>
            <a:ext cx="2651760" cy="1"/>
          </a:xfrm>
          <a:prstGeom prst="lin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💻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Autocompletado, debug, tests y documentación sin subir código propietario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371600"/>
            <a:ext cx="0" cy="1463040"/>
          </a:xfrm>
          <a:prstGeom prst="line">
            <a:avLst/>
          </a:prstGeom>
          <a:solidFill>
            <a:srgbClr val="0D1B2E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371600"/>
            <a:ext cx="2651760" cy="0"/>
          </a:xfrm>
          <a:prstGeom prst="lin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463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🏥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91840" y="1965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 / Salud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22402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historiales clínicos, redactar informes sin violar privacidad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1371600"/>
            <a:ext cx="0" cy="1463029"/>
          </a:xfrm>
          <a:prstGeom prst="line">
            <a:avLst/>
          </a:prstGeom>
          <a:solidFill>
            <a:srgbClr val="0D1B2E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371600"/>
            <a:ext cx="2651760" cy="0"/>
          </a:xfrm>
          <a:prstGeom prst="lin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463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📰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126480" y="1965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Periodista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22402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Resumir documentos, transcribir entrevistas confidenciales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2971800"/>
            <a:ext cx="0" cy="1463039"/>
          </a:xfrm>
          <a:prstGeom prst="line">
            <a:avLst/>
          </a:prstGeom>
          <a:solidFill>
            <a:srgbClr val="0D1B2E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971800"/>
            <a:ext cx="2651755" cy="0"/>
          </a:xfrm>
          <a:prstGeom prst="lin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063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⚖️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57200" y="3566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Abogado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8404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contratos, extraer cláusulas clave, consultas confidenciales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2971800"/>
            <a:ext cx="0" cy="1417320"/>
          </a:xfrm>
          <a:prstGeom prst="line">
            <a:avLst/>
          </a:prstGeom>
          <a:solidFill>
            <a:srgbClr val="0D1B2E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971800"/>
            <a:ext cx="2651760" cy="0"/>
          </a:xfrm>
          <a:prstGeom prst="lin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3063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🎓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3291840" y="3566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91840" y="38404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24/7 gratis, explicar conceptos, practicar idiomas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35040" y="2971800"/>
            <a:ext cx="0" cy="1417305"/>
          </a:xfrm>
          <a:prstGeom prst="line">
            <a:avLst/>
          </a:prstGeom>
          <a:solidFill>
            <a:srgbClr val="0D1B2E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2971800"/>
            <a:ext cx="2651760" cy="0"/>
          </a:xfrm>
          <a:prstGeom prst="lin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35040" y="3063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🏢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126480" y="3566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/ PYME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26480" y="38404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interno con datos propios, sin filtrar información</a:t>
            </a:r>
            <a:endParaRPr lang="en-US" sz="95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1737360" cy="0"/>
          </a:xfrm>
          <a:prstGeom prst="lin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chemeClr val="bg1"/>
                </a:solidFill>
              </a:rPr>
              <a:t>IMPACTO ECONÓMICO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te cuesta la IA en la nube?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8288"/>
          </a:xfrm>
          <a:prstGeom prst="lin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258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2743200" y="132588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mes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206240" y="132588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año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5669280" y="132588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1719072"/>
            <a:ext cx="8229600" cy="18288"/>
          </a:xfrm>
          <a:prstGeom prst="line">
            <a:avLst/>
          </a:prstGeom>
          <a:solidFill>
            <a:srgbClr val="0D1B2E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71907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Plus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0" y="1719072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06240" y="1719072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$240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0" y="1719072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de mensajes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249424"/>
            <a:ext cx="8229600" cy="18288"/>
          </a:xfrm>
          <a:prstGeom prst="line">
            <a:avLst/>
          </a:prstGeom>
          <a:solidFill>
            <a:srgbClr val="0D1B2E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249424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Pro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0" y="2249424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06240" y="2249424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$240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0" y="2249424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de uso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779776"/>
            <a:ext cx="8229600" cy="18288"/>
          </a:xfrm>
          <a:prstGeom prst="line">
            <a:avLst/>
          </a:prstGeom>
          <a:solidFill>
            <a:srgbClr val="0D1B2E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77977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Pro (IDE)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0" y="2779776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06240" y="2779776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$240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0" y="2779776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req/mes con GPT-4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 flipV="1">
            <a:off x="457200" y="3291840"/>
            <a:ext cx="8229600" cy="18288"/>
          </a:xfrm>
          <a:prstGeom prst="line">
            <a:avLst/>
          </a:prstGeom>
          <a:solidFill>
            <a:srgbClr val="0D1B2E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31012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API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0" y="3310128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$50-200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206240" y="3310128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$600-2400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669280" y="3310128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Según tokens consumidos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 flipV="1">
            <a:off x="457200" y="3822192"/>
            <a:ext cx="8229600" cy="18288"/>
          </a:xfrm>
          <a:prstGeom prst="line">
            <a:avLst/>
          </a:prstGeom>
          <a:solidFill>
            <a:srgbClr val="0A1F10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840480"/>
            <a:ext cx="0" cy="475488"/>
          </a:xfrm>
          <a:prstGeom prst="lin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384048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+ Llama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743200" y="3840480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206240" y="3840480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669280" y="384048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límites. Para siempre.</a:t>
            </a:r>
            <a:endParaRPr lang="en-US" sz="10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1737360" cy="0"/>
          </a:xfrm>
          <a:prstGeom prst="lin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chemeClr val="bg1"/>
                </a:solidFill>
              </a:rPr>
              <a:t>EL MODELO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8B — nuestra herramienta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0"/>
          </a:xfrm>
          <a:prstGeom prst="line">
            <a:avLst/>
          </a:prstGeom>
          <a:solidFill>
            <a:srgbClr val="0D1B2E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5544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2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LLAMA 3.1 8B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Meta · Código abierto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Parámetros: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103120" y="24231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mil millones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277063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103120" y="277063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~4.7 GB en disco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311810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mínima: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103120" y="311810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GB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346557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103120" y="346557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128,000 tokens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381304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CPU: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103120" y="381304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~15-25 tokens/s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1280160"/>
            <a:ext cx="3886200" cy="0"/>
          </a:xfrm>
          <a:prstGeom prst="line">
            <a:avLst/>
          </a:prstGeom>
          <a:solidFill>
            <a:srgbClr val="0D1B2E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1417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Razonamiento (escala 0-100)</a:t>
            </a:r>
            <a:endParaRPr lang="en-US" sz="13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4800600" y="1783080"/>
          <a:ext cx="384048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1737360" cy="0"/>
          </a:xfrm>
          <a:prstGeom prst="lin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chemeClr val="bg1"/>
                </a:solidFill>
              </a:rPr>
              <a:t>CPU vs GPU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tan rápida es la IA local?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696330124"/>
              </p:ext>
            </p:extLst>
          </p:nvPr>
        </p:nvGraphicFramePr>
        <p:xfrm>
          <a:off x="457200" y="1234440"/>
          <a:ext cx="530352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035040" y="1234440"/>
            <a:ext cx="2651760" cy="0"/>
          </a:xfrm>
          <a:prstGeom prst="line">
            <a:avLst/>
          </a:prstGeom>
          <a:solidFill>
            <a:srgbClr val="0D1B2E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126480" y="1325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(tu laptop)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126480" y="16002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~22 tok/s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126480" y="194767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Usable, no ultrarrápido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035040" y="2404872"/>
            <a:ext cx="2651760" cy="18287"/>
          </a:xfrm>
          <a:prstGeom prst="line">
            <a:avLst/>
          </a:prstGeom>
          <a:solidFill>
            <a:srgbClr val="0D1B2E"/>
          </a:solidFill>
          <a:ln w="1905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126480" y="24963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GTX 1650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126480" y="27706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~40 tok/s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126480" y="311810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 más rápido que CPU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035040" y="3575304"/>
            <a:ext cx="2651760" cy="18286"/>
          </a:xfrm>
          <a:prstGeom prst="line">
            <a:avLst/>
          </a:prstGeom>
          <a:solidFill>
            <a:srgbClr val="0D1B2E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126480" y="36667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3060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126480" y="394106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~90 tok/s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126480" y="428853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</a:t>
            </a:r>
            <a:r>
              <a:rPr lang="en-US" sz="95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fluida</a:t>
            </a:r>
            <a:endParaRPr lang="en-US" sz="95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"/>
            <a:ext cx="9144000" cy="0"/>
          </a:xfrm>
          <a:prstGeom prst="lin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 —  SIGUE LOS PASOS EN TU MÁQUINA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conversación — Terminal directa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0" cy="2715768"/>
          </a:xfrm>
          <a:prstGeom prst="line">
            <a:avLst/>
          </a:prstGeom>
          <a:solidFill>
            <a:srgbClr val="0D1117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8229600" cy="73152"/>
          </a:xfrm>
          <a:prstGeom prst="line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161288"/>
            <a:ext cx="109728" cy="109728"/>
          </a:xfrm>
          <a:prstGeom prst="line">
            <a:avLst/>
          </a:prstGeom>
          <a:solidFill>
            <a:srgbClr val="FF6058"/>
          </a:solidFill>
          <a:ln w="12700">
            <a:solidFill>
              <a:srgbClr val="FF605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" y="1161288"/>
            <a:ext cx="109728" cy="109728"/>
          </a:xfrm>
          <a:prstGeom prst="lin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" y="1161288"/>
            <a:ext cx="109728" cy="109728"/>
          </a:xfrm>
          <a:prstGeom prst="line">
            <a:avLst/>
          </a:prstGeom>
          <a:solidFill>
            <a:srgbClr val="28CA41"/>
          </a:solidFill>
          <a:ln w="12700">
            <a:solidFill>
              <a:srgbClr val="28CA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399032"/>
            <a:ext cx="7955280" cy="2715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BA3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Verificar que Ollama está listo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F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list     # debe mostrar llama3.1:8b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BA3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Iniciar conversación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F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run llama3.1:8b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Hola, preséntate en 2 líneas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Escribe un script bash que liste archivos grandes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Explica async/await en JavaScript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BA3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/bye    (para salir)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343400"/>
            <a:ext cx="8229600" cy="0"/>
          </a:xfrm>
          <a:prstGeom prst="line">
            <a:avLst/>
          </a:prstGeom>
          <a:solidFill>
            <a:srgbClr val="0A152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43891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respuesta: 15-30 seg (cargando modelo en RAM). Las siguientes son rápidas.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466344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/bye para salir. Si cierras la terminal sin /bye, el proceso sigue corriendo.</a:t>
            </a:r>
            <a:endParaRPr lang="en-US" sz="95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56616"/>
            <a:ext cx="9144000" cy="54864"/>
          </a:xfrm>
          <a:prstGeom prst="lin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 —  SIGUE LOS PASOS EN TU MÁQUINA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con skills de desarrollador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1508760" cy="0"/>
          </a:xfrm>
          <a:prstGeom prst="line">
            <a:avLst/>
          </a:prstGeom>
          <a:solidFill>
            <a:srgbClr val="0D1B2E"/>
          </a:solidFill>
          <a:ln w="1905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18872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92808" y="141732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A3C1"/>
                </a:solidFill>
              </a:rPr>
              <a:t>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48840" y="1143000"/>
            <a:ext cx="1508760" cy="0"/>
          </a:xfrm>
          <a:prstGeom prst="line">
            <a:avLst/>
          </a:prstGeom>
          <a:solidFill>
            <a:srgbClr val="0D1B2E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94560" y="118872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razona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75888" y="141732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A3C1"/>
                </a:solidFill>
              </a:rPr>
              <a:t>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 flipV="1">
            <a:off x="3931920" y="1133856"/>
            <a:ext cx="1463040" cy="9144"/>
          </a:xfrm>
          <a:prstGeom prst="line">
            <a:avLst/>
          </a:prstGeom>
          <a:solidFill>
            <a:srgbClr val="0D1B2E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977640" y="118872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58968" y="141732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A3C1"/>
                </a:solidFill>
              </a:rPr>
              <a:t>▶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15000" y="1143000"/>
            <a:ext cx="1463040" cy="0"/>
          </a:xfrm>
          <a:prstGeom prst="line">
            <a:avLst/>
          </a:prstGeom>
          <a:solidFill>
            <a:srgbClr val="0D1B2E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760720" y="118872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código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242048" y="141732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A3C1"/>
                </a:solidFill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 flipV="1">
            <a:off x="7498080" y="1133856"/>
            <a:ext cx="1463040" cy="9144"/>
          </a:xfrm>
          <a:prstGeom prst="line">
            <a:avLst/>
          </a:prstGeom>
          <a:solidFill>
            <a:srgbClr val="0D1B2E"/>
          </a:solidFill>
          <a:ln w="1905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43800" y="118872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2240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herramientas disponibles: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560320"/>
            <a:ext cx="2651760" cy="0"/>
          </a:xfrm>
          <a:prstGeom prst="line">
            <a:avLst/>
          </a:prstGeom>
          <a:solidFill>
            <a:srgbClr val="0D1B2E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59689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F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leer_archivo()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91840" y="2560320"/>
            <a:ext cx="2560320" cy="9134"/>
          </a:xfrm>
          <a:prstGeom prst="line">
            <a:avLst/>
          </a:prstGeom>
          <a:solidFill>
            <a:srgbClr val="0D1B2E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259689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F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escribir_archivo()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26480" y="2560320"/>
            <a:ext cx="2651760" cy="9134"/>
          </a:xfrm>
          <a:prstGeom prst="line">
            <a:avLst/>
          </a:prstGeom>
          <a:solidFill>
            <a:srgbClr val="0D1B2E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259689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F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listar_directorio()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3017520"/>
            <a:ext cx="2651760" cy="0"/>
          </a:xfrm>
          <a:prstGeom prst="line">
            <a:avLst/>
          </a:prstGeom>
          <a:solidFill>
            <a:srgbClr val="0D1B2E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05409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F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buscar_en_codigo()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91840" y="3017521"/>
            <a:ext cx="2560320" cy="0"/>
          </a:xfrm>
          <a:prstGeom prst="line">
            <a:avLst/>
          </a:prstGeom>
          <a:solidFill>
            <a:srgbClr val="0D1B2E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0" y="305409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F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analizar_codigo()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26480" y="3017520"/>
            <a:ext cx="2651760" cy="0"/>
          </a:xfrm>
          <a:prstGeom prst="line">
            <a:avLst/>
          </a:prstGeom>
          <a:solidFill>
            <a:srgbClr val="0D1B2E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305409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F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ejecutar_python()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 flipV="1">
            <a:off x="457200" y="3465576"/>
            <a:ext cx="2651760" cy="9144"/>
          </a:xfrm>
          <a:prstGeom prst="line">
            <a:avLst/>
          </a:prstGeom>
          <a:solidFill>
            <a:srgbClr val="0D1B2E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351129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F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ejecutar_bash()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 flipV="1">
            <a:off x="3291840" y="3474720"/>
            <a:ext cx="2560320" cy="0"/>
          </a:xfrm>
          <a:prstGeom prst="line">
            <a:avLst/>
          </a:prstGeom>
          <a:solidFill>
            <a:srgbClr val="0D1B2E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3280" y="351129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F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git_info()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126480" y="3474720"/>
            <a:ext cx="2651760" cy="36576"/>
          </a:xfrm>
          <a:prstGeom prst="line">
            <a:avLst/>
          </a:prstGeom>
          <a:solidFill>
            <a:srgbClr val="0D1B2E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0" y="351129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F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fecha_hora()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ejercicios/agente.py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arquitectura que Claude Code, Cursor, GitHub Copilot. Lo que cambia es el modelo y las herramientas.</a:t>
            </a:r>
            <a:endParaRPr lang="en-US" sz="10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411480"/>
            <a:ext cx="9144000" cy="18288"/>
          </a:xfrm>
          <a:prstGeom prst="lin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 —  SIGUE LOS PASOS EN TU MÁQUINA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demos de dificultad creciente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solidFill>
            <a:srgbClr val="0D1B2E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0" cy="493775"/>
          </a:xfrm>
          <a:prstGeom prst="lin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9" y="1536190"/>
            <a:ext cx="420623" cy="2"/>
          </a:xfrm>
          <a:prstGeom prst="lin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88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097280" y="1170432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Obtener fecha actual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7058025" y="1490470"/>
            <a:ext cx="1080135" cy="2"/>
          </a:xfrm>
          <a:prstGeom prst="lin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0" y="12161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FÁCIL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1719072"/>
            <a:ext cx="8229600" cy="27430"/>
          </a:xfrm>
          <a:prstGeom prst="line">
            <a:avLst/>
          </a:prstGeom>
          <a:solidFill>
            <a:srgbClr val="0D1B2E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719072"/>
            <a:ext cx="0" cy="530350"/>
          </a:xfrm>
          <a:prstGeom prst="lin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157984"/>
            <a:ext cx="347472" cy="0"/>
          </a:xfrm>
          <a:prstGeom prst="lin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1810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97280" y="1792224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 archivos del directorio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132320" y="2112264"/>
            <a:ext cx="1005840" cy="0"/>
          </a:xfrm>
          <a:prstGeom prst="lin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0" y="183794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FÁCIL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200" y="2340864"/>
            <a:ext cx="8229600" cy="0"/>
          </a:xfrm>
          <a:prstGeom prst="line">
            <a:avLst/>
          </a:prstGeom>
          <a:solidFill>
            <a:srgbClr val="0D1B2E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340864"/>
            <a:ext cx="0" cy="493776"/>
          </a:xfrm>
          <a:prstGeom prst="lin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2770632"/>
            <a:ext cx="347472" cy="9144"/>
          </a:xfrm>
          <a:prstGeom prst="lin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24323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97280" y="2414016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un archivo de código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132320" y="2734054"/>
            <a:ext cx="1005840" cy="2"/>
          </a:xfrm>
          <a:prstGeom prst="lin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0" y="24597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MEDIO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57200" y="2962656"/>
            <a:ext cx="8229600" cy="9144"/>
          </a:xfrm>
          <a:prstGeom prst="line">
            <a:avLst/>
          </a:prstGeom>
          <a:solidFill>
            <a:srgbClr val="0D1B2E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2962656"/>
            <a:ext cx="0" cy="493774"/>
          </a:xfrm>
          <a:prstGeom prst="lin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3392424"/>
            <a:ext cx="347472" cy="9144"/>
          </a:xfrm>
          <a:prstGeom prst="lin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054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1097280" y="3035808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código Python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132320" y="3346704"/>
            <a:ext cx="1005840" cy="9144"/>
          </a:xfrm>
          <a:prstGeom prst="lin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0" y="30815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MEDIO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57200" y="3584448"/>
            <a:ext cx="8229600" cy="0"/>
          </a:xfrm>
          <a:prstGeom prst="line">
            <a:avLst/>
          </a:prstGeom>
          <a:solidFill>
            <a:srgbClr val="0D1B2E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3584448"/>
            <a:ext cx="0" cy="530352"/>
          </a:xfrm>
          <a:prstGeom prst="lin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" y="4014216"/>
            <a:ext cx="347472" cy="9144"/>
          </a:xfrm>
          <a:prstGeom prst="lin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3675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1097280" y="365760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patrones en el código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8" name="Shape 36"/>
          <p:cNvSpPr/>
          <p:nvPr/>
        </p:nvSpPr>
        <p:spPr>
          <a:xfrm>
            <a:off x="7132320" y="3968496"/>
            <a:ext cx="1005840" cy="9144"/>
          </a:xfrm>
          <a:prstGeom prst="lin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32320" y="37033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DIFÍCIL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57200" y="4206239"/>
            <a:ext cx="8229600" cy="27431"/>
          </a:xfrm>
          <a:prstGeom prst="line">
            <a:avLst/>
          </a:prstGeom>
          <a:solidFill>
            <a:srgbClr val="0D1B2E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4206241"/>
            <a:ext cx="0" cy="457200"/>
          </a:xfrm>
          <a:prstGeom prst="lin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0080" y="4645150"/>
            <a:ext cx="347472" cy="2"/>
          </a:xfrm>
          <a:prstGeom prst="lin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4297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4" name="Text 42"/>
          <p:cNvSpPr/>
          <p:nvPr/>
        </p:nvSpPr>
        <p:spPr>
          <a:xfrm>
            <a:off x="1097280" y="4279392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fibonacci.py y ejecutarlo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5" name="Shape 43"/>
          <p:cNvSpPr/>
          <p:nvPr/>
        </p:nvSpPr>
        <p:spPr>
          <a:xfrm>
            <a:off x="7132320" y="4599432"/>
            <a:ext cx="1005840" cy="0"/>
          </a:xfrm>
          <a:prstGeom prst="lin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32320" y="43251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BRUTAL</a:t>
            </a:r>
            <a:endParaRPr lang="en-US" sz="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0"/>
            <a:ext cx="9144000" cy="45720"/>
          </a:xfrm>
          <a:prstGeom prst="lin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 —  SIGUE LOS PASOS EN TU MÁQUINA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+ Continue — tu Copilot local con skills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 flipH="1">
            <a:off x="365759" y="1097279"/>
            <a:ext cx="0" cy="1570501"/>
          </a:xfrm>
          <a:prstGeom prst="line">
            <a:avLst/>
          </a:prstGeom>
          <a:solidFill>
            <a:srgbClr val="0D1B2E"/>
          </a:solidFill>
          <a:ln w="1905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2651760" cy="0"/>
          </a:xfrm>
          <a:prstGeom prst="lin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personalizado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Modelfile → dev-assistant con system prompt de experto fullstack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0" cy="1554480"/>
          </a:xfrm>
          <a:prstGeom prst="line">
            <a:avLst/>
          </a:prstGeom>
          <a:solidFill>
            <a:srgbClr val="0D1B2E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97280"/>
            <a:ext cx="2651760" cy="0"/>
          </a:xfrm>
          <a:prstGeom prst="lin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2344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1463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custom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17830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slash commands: /revisar /tests /explicar /optimizar /seguridad...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097280"/>
            <a:ext cx="0" cy="1554480"/>
          </a:xfrm>
          <a:prstGeom prst="line">
            <a:avLst/>
          </a:prstGeom>
          <a:solidFill>
            <a:srgbClr val="0D1B2E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097280"/>
            <a:ext cx="2651760" cy="0"/>
          </a:xfrm>
          <a:prstGeom prst="lin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2344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0" y="1463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con tools dev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17830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herramientas: grep, analizar código, ejecutar Python, git...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Atajos clave de Continue: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154680"/>
            <a:ext cx="3977640" cy="0"/>
          </a:xfrm>
          <a:prstGeom prst="line">
            <a:avLst/>
          </a:prstGeom>
          <a:solidFill>
            <a:srgbClr val="0D1B2E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2004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F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737360" y="32004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con código seleccionado como contexto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17720" y="3154680"/>
            <a:ext cx="3977640" cy="0"/>
          </a:xfrm>
          <a:prstGeom prst="line">
            <a:avLst/>
          </a:prstGeom>
          <a:solidFill>
            <a:srgbClr val="0D1B2E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2004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F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97880" y="32004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código seleccionado con instrucción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3630168"/>
            <a:ext cx="3886200" cy="0"/>
          </a:xfrm>
          <a:prstGeom prst="line">
            <a:avLst/>
          </a:prstGeom>
          <a:solidFill>
            <a:srgbClr val="0D1B2E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67588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F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/revisar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737360" y="367588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bugs, mejoras y buenas prácticas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17720" y="3630168"/>
            <a:ext cx="3977640" cy="0"/>
          </a:xfrm>
          <a:prstGeom prst="line">
            <a:avLst/>
          </a:prstGeom>
          <a:solidFill>
            <a:srgbClr val="0D1B2E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367588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F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/tests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897880" y="367588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tests unitarios automáticos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4105656"/>
            <a:ext cx="3977640" cy="0"/>
          </a:xfrm>
          <a:prstGeom prst="line">
            <a:avLst/>
          </a:prstGeom>
          <a:solidFill>
            <a:srgbClr val="0D1B2E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15137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F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/explicar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737360" y="4151376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 el código paso a paso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17720" y="4105656"/>
            <a:ext cx="3977640" cy="0"/>
          </a:xfrm>
          <a:prstGeom prst="line">
            <a:avLst/>
          </a:prstGeom>
          <a:solidFill>
            <a:srgbClr val="0D1B2E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415137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F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/seguridad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897880" y="4151376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vulnerabilidades de seguridad</a:t>
            </a:r>
            <a:endParaRPr lang="en-US" sz="95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1737360" cy="0"/>
          </a:xfrm>
          <a:prstGeom prst="lin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chemeClr val="bg1"/>
                </a:solidFill>
              </a:rPr>
              <a:t>SIGUIENTE NIVEL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conviene subir de modelo?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138160" cy="0"/>
          </a:xfrm>
          <a:prstGeom prst="lin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258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920240" y="13258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937760" y="1325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8138160" cy="0"/>
          </a:xfrm>
          <a:prstGeom prst="line">
            <a:avLst/>
          </a:prstGeom>
          <a:solidFill>
            <a:srgbClr val="0D1B2E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37360"/>
            <a:ext cx="1188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A3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GB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20240" y="1737360"/>
            <a:ext cx="29260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phi3:mini / gemma2:2b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737360"/>
            <a:ext cx="3657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Juguete. Tareas simples.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212848"/>
            <a:ext cx="8138160" cy="0"/>
          </a:xfrm>
          <a:prstGeom prst="line">
            <a:avLst/>
          </a:prstGeom>
          <a:solidFill>
            <a:srgbClr val="1A103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212848"/>
            <a:ext cx="0" cy="429766"/>
          </a:xfrm>
          <a:prstGeom prst="lin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212848"/>
            <a:ext cx="1188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GB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20240" y="2212848"/>
            <a:ext cx="29260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llama3.1:8b  ← HOY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212848"/>
            <a:ext cx="3657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diario razonable. 70% de ChatGPT.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688336"/>
            <a:ext cx="8138160" cy="0"/>
          </a:xfrm>
          <a:prstGeom prst="line">
            <a:avLst/>
          </a:prstGeom>
          <a:solidFill>
            <a:srgbClr val="0D1B2E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688336"/>
            <a:ext cx="1188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GB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920240" y="2688336"/>
            <a:ext cx="29260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qwen2.5:14b / phi4:14b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688336"/>
            <a:ext cx="3657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Serio. Escribes apps funcionales.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163824"/>
            <a:ext cx="8138160" cy="0"/>
          </a:xfrm>
          <a:prstGeom prst="line">
            <a:avLst/>
          </a:prstGeom>
          <a:solidFill>
            <a:srgbClr val="0D1B2E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163824"/>
            <a:ext cx="1188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GB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920240" y="3163824"/>
            <a:ext cx="29260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qwen2.5:32b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3163824"/>
            <a:ext cx="3657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Cercano a GPT-4 en muchas tareas.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3639312"/>
            <a:ext cx="8138160" cy="0"/>
          </a:xfrm>
          <a:prstGeom prst="line">
            <a:avLst/>
          </a:prstGeom>
          <a:solidFill>
            <a:srgbClr val="0D1B2E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639312"/>
            <a:ext cx="1188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GPU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920240" y="3639312"/>
            <a:ext cx="29260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llama3.3:70b (con GPU)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3639312"/>
            <a:ext cx="3657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a GPT-4. Velocidad real.</a:t>
            </a:r>
            <a:endParaRPr lang="en-US" sz="105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457200" y="530352"/>
            <a:ext cx="1737360" cy="9144"/>
          </a:xfrm>
          <a:prstGeom prst="lin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chemeClr val="bg1"/>
                </a:solidFill>
              </a:rPr>
              <a:t>NOTICIAS · 2025-2026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ecosistema cambió — rápido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54864"/>
          </a:xfrm>
          <a:prstGeom prst="line">
            <a:avLst/>
          </a:prstGeom>
          <a:solidFill>
            <a:srgbClr val="0D1B2E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0" cy="640080"/>
          </a:xfrm>
          <a:prstGeom prst="lin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91056"/>
            <a:ext cx="1097280" cy="0"/>
          </a:xfrm>
          <a:prstGeom prst="lin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898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PRECIO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874520" y="1335024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ya no es gratis en el plan mensual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74520" y="1618488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separó Claude Code del plan Pro. Requiere suscripción adicional.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029968"/>
            <a:ext cx="8229600" cy="18288"/>
          </a:xfrm>
          <a:prstGeom prst="line">
            <a:avLst/>
          </a:prstGeom>
          <a:solidFill>
            <a:srgbClr val="0D1B2E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029967"/>
            <a:ext cx="0" cy="694939"/>
          </a:xfrm>
          <a:prstGeom prst="lin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340862"/>
            <a:ext cx="1097280" cy="1"/>
          </a:xfrm>
          <a:prstGeom prst="lin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13969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PRECIO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1874520" y="208483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y Windsurf subieron precios — de nuevo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74520" y="2368296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IDEs con IA cobran $20-40/mes. El plan gratis es simbólico.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779776"/>
            <a:ext cx="8174736" cy="0"/>
          </a:xfrm>
          <a:prstGeom prst="line">
            <a:avLst/>
          </a:prstGeom>
          <a:solidFill>
            <a:srgbClr val="0D1B2E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779776"/>
            <a:ext cx="0" cy="639697"/>
          </a:xfrm>
          <a:prstGeom prst="lin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090670"/>
            <a:ext cx="1097280" cy="2"/>
          </a:xfrm>
          <a:prstGeom prst="lin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8895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1874520" y="283464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Intelligence: modelos locales en Mac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874520" y="3118104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Macs con chip M-series corren IA local sin internet.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529584"/>
            <a:ext cx="8174736" cy="18287"/>
          </a:xfrm>
          <a:prstGeom prst="line">
            <a:avLst/>
          </a:prstGeom>
          <a:solidFill>
            <a:srgbClr val="0D1B2E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529584"/>
            <a:ext cx="0" cy="658368"/>
          </a:xfrm>
          <a:prstGeom prst="lin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3840478"/>
            <a:ext cx="1097280" cy="1"/>
          </a:xfrm>
          <a:prstGeom prst="lin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63931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1874520" y="3584448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integra Phi-4 en Windows 11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874520" y="3867912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Copilot+ PCs corren IA localmente sin conexión.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 flipV="1">
            <a:off x="457200" y="4242813"/>
            <a:ext cx="8229600" cy="36579"/>
          </a:xfrm>
          <a:prstGeom prst="line">
            <a:avLst/>
          </a:prstGeom>
          <a:solidFill>
            <a:srgbClr val="0D1B2E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4279392"/>
            <a:ext cx="0" cy="658368"/>
          </a:xfrm>
          <a:prstGeom prst="lin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" y="4590288"/>
            <a:ext cx="1097280" cy="0"/>
          </a:xfrm>
          <a:prstGeom prst="lin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3891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SOURCE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1874520" y="4334256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lanzó Llama 4 — corre mejor en CPU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874520" y="461772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eficiente. La tendencia: modelos más pequeños y capaces.</a:t>
            </a:r>
            <a:endParaRPr lang="en-US" sz="95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30352"/>
            <a:ext cx="1828800" cy="0"/>
          </a:xfrm>
          <a:prstGeom prst="lin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chemeClr val="bg1"/>
                </a:solidFill>
              </a:rPr>
              <a:t>EL FUTURO · 2026-2028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dónde va la IA local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1"/>
            <a:ext cx="0" cy="3282686"/>
          </a:xfrm>
          <a:prstGeom prst="line">
            <a:avLst/>
          </a:prstGeom>
          <a:solidFill>
            <a:srgbClr val="0D1B2E"/>
          </a:solidFill>
          <a:ln w="1905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 flipV="1">
            <a:off x="365760" y="1325879"/>
            <a:ext cx="2651755" cy="1"/>
          </a:xfrm>
          <a:prstGeom prst="lin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737360"/>
            <a:ext cx="731520" cy="0"/>
          </a:xfrm>
          <a:prstGeom prst="lin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371600" y="149047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828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mismo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2402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Modelos 7-8B igualan GPT-3.5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8803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IA integrada en Mac y Windows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5204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Herramientas de código suben precios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46120" y="1325880"/>
            <a:ext cx="0" cy="3227823"/>
          </a:xfrm>
          <a:prstGeom prst="line">
            <a:avLst/>
          </a:prstGeom>
          <a:solidFill>
            <a:srgbClr val="0D1B2E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 flipV="1">
            <a:off x="3246120" y="1325879"/>
            <a:ext cx="2651753" cy="1"/>
          </a:xfrm>
          <a:prstGeom prst="lin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3280" y="1737360"/>
            <a:ext cx="731520" cy="0"/>
          </a:xfrm>
          <a:prstGeom prst="lin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1463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3383280" y="1828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año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83280" y="22402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Modelos 3B con calidad GPT-4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83280" y="28803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Chips NPU en laptops de gama media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83280" y="35204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IA local en smartphones sin internet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26480" y="1325880"/>
            <a:ext cx="0" cy="3282687"/>
          </a:xfrm>
          <a:prstGeom prst="line">
            <a:avLst/>
          </a:prstGeom>
          <a:solidFill>
            <a:srgbClr val="0D1B2E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1325880"/>
            <a:ext cx="2651760" cy="1"/>
          </a:xfrm>
          <a:prstGeom prst="lin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1737360"/>
            <a:ext cx="731520" cy="0"/>
          </a:xfrm>
          <a:prstGeom prst="lin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1463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2027-28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6263640" y="1828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2-3 años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63640" y="22402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IA como utilidad básica del SO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63640" y="28803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Modelos entrenados en tu PC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63640" y="35204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Privacidad digital = ventaja competitiva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tendencia es clara: la IA se mueve hacia los dispositivos.</a:t>
            </a:r>
            <a:endParaRPr lang="en-US" sz="10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dirty="0">
                <a:solidFill>
                  <a:srgbClr val="000000"/>
                </a:solidFill>
              </a:rPr>
              <a:t>🎮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¡Quiz time!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preguntas sobre todo lo que aprendimos hoy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0" y="2606040"/>
            <a:ext cx="3657600" cy="0"/>
          </a:xfrm>
          <a:prstGeom prst="lin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2880361"/>
            <a:ext cx="5486400" cy="0"/>
          </a:xfrm>
          <a:prstGeom prst="line">
            <a:avLst/>
          </a:prstGeom>
          <a:solidFill>
            <a:srgbClr val="0D1B2E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011680" y="29718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participar: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03120" y="3584447"/>
            <a:ext cx="201168" cy="0"/>
          </a:xfrm>
          <a:prstGeom prst="lin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33832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2423160" y="3355848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tu celular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103120" y="3840480"/>
            <a:ext cx="201168" cy="0"/>
          </a:xfrm>
          <a:prstGeom prst="lin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36393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2423160" y="3611880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a  kahoot.it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103120" y="4096512"/>
            <a:ext cx="201168" cy="0"/>
          </a:xfrm>
          <a:prstGeom prst="lin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03120" y="38953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2423160" y="386410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¡Responde rápido para ganar puntos!</a:t>
            </a:r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fondo_cierre">
            <a:hlinkClick r:id="" action="ppaction://media"/>
            <a:extLst>
              <a:ext uri="{FF2B5EF4-FFF2-40B4-BE49-F238E27FC236}">
                <a16:creationId xmlns:a16="http://schemas.microsoft.com/office/drawing/2014/main" id="{FF0B0D88-B873-4F01-97EF-88D4D1FF3EB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28600" y="0"/>
            <a:ext cx="0" cy="5143500"/>
          </a:xfrm>
          <a:prstGeom prst="lin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 flipH="1">
            <a:off x="8915399" y="0"/>
            <a:ext cx="1" cy="5143500"/>
          </a:xfrm>
          <a:prstGeom prst="lin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tienes las llaves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personalizado · Skills de dev · IDE configurado · Agente con herramientas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2606040"/>
            <a:ext cx="2560319" cy="22860"/>
          </a:xfrm>
          <a:prstGeom prst="line">
            <a:avLst/>
          </a:prstGeom>
          <a:solidFill>
            <a:srgbClr val="0D1B2E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" y="26517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31520" y="3108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 LangChain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" y="3383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con memoria y RAG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474720" y="2606040"/>
            <a:ext cx="2468880" cy="0"/>
          </a:xfrm>
          <a:prstGeom prst="line">
            <a:avLst/>
          </a:prstGeom>
          <a:solidFill>
            <a:srgbClr val="0D1B2E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474720" y="26517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🎮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3566160" y="3108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otros modelos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566160" y="3383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qwen2.5:7b · mistral:7b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309360" y="2606040"/>
            <a:ext cx="2514599" cy="0"/>
          </a:xfrm>
          <a:prstGeom prst="line">
            <a:avLst/>
          </a:prstGeom>
          <a:solidFill>
            <a:srgbClr val="0D1B2E"/>
          </a:solidFill>
          <a:ln w="12700">
            <a:solidFill>
              <a:srgbClr val="1A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309360" y="26517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400800" y="3108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 algo tuyo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400800" y="3383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bot, un analizador, lo que quieras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 ·  Demo libre  ·  Experimenta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Hernán López  ·  Desarrollador Fullstack</a:t>
            </a:r>
            <a:endParaRPr lang="en-US" sz="10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repeatCount="indefinite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indefinite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2000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23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1252</Words>
  <Application>Microsoft Office PowerPoint</Application>
  <PresentationFormat>Presentación en pantalla (16:9)</PresentationFormat>
  <Paragraphs>310</Paragraphs>
  <Slides>17</Slides>
  <Notes>17</Notes>
  <HiddenSlides>0</HiddenSlides>
  <MMClips>3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 propio ChatGPT en Linux</dc:title>
  <dc:subject>PptxGenJS Presentation</dc:subject>
  <dc:creator>Hernán López</dc:creator>
  <cp:lastModifiedBy>hernan percy lopez molina</cp:lastModifiedBy>
  <cp:revision>10</cp:revision>
  <dcterms:created xsi:type="dcterms:W3CDTF">2026-04-24T13:23:19Z</dcterms:created>
  <dcterms:modified xsi:type="dcterms:W3CDTF">2026-04-24T19:38:56Z</dcterms:modified>
</cp:coreProperties>
</file>